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85BAEB-13C1-4198-8563-3552DB73B96C}" v="1" dt="2026-08-03T03:31:50.3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132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4273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228600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COMPILER DESIGN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3337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EC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Source Code to Machine Code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886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Phases, Lexical Analysis, Language Processors, Optimization &amp; Construction Tools (LEX / YACC)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4617720"/>
            <a:ext cx="2743200" cy="0"/>
          </a:xfrm>
          <a:prstGeom prst="line">
            <a:avLst/>
          </a:prstGeom>
          <a:noFill/>
          <a:ln w="25400">
            <a:solidFill>
              <a:srgbClr val="2E8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4754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PRESENTATION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79" y="5867400"/>
            <a:ext cx="10037445" cy="76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Somanath Reddy                                                                                                                                 Guide By:</a:t>
            </a:r>
          </a:p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                                                                                                                              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Dr.G.Appasami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192525083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5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86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920240" y="1691640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of a Compiler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0" y="1691640"/>
            <a:ext cx="5669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stages that transform source code into machine code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70048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5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14400" y="2670048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86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920240" y="2670048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Analysis &amp; LEX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669280" y="2670048"/>
            <a:ext cx="5669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Tokens, lexemes, patterns and rule design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648456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5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14400" y="3648456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86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920240" y="3648456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vs Interpreter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669280" y="3648456"/>
            <a:ext cx="5669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two language processors differ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626864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5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14400" y="4626864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86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920240" y="4626864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&amp; Optimization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669280" y="4626864"/>
            <a:ext cx="5669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/ back-end structure and code improvement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605272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B2A5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14400" y="5605272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86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920240" y="5605272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Tools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669280" y="5605272"/>
            <a:ext cx="5669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compiler with LEX and YACC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COMPILER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Phases of a Compiler and Their Role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691640" cy="1417320"/>
          </a:xfrm>
          <a:prstGeom prst="rect">
            <a:avLst/>
          </a:prstGeom>
          <a:solidFill>
            <a:srgbClr val="1B2A5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13232" y="1847088"/>
            <a:ext cx="154533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13232" y="2468880"/>
            <a:ext cx="15453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5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source code into tokens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313432" y="23088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A5B"/>
                </a:solidFill>
              </a:rPr>
              <a:t>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50592" y="1737360"/>
            <a:ext cx="1691640" cy="1417320"/>
          </a:xfrm>
          <a:prstGeom prst="rect">
            <a:avLst/>
          </a:prstGeom>
          <a:solidFill>
            <a:srgbClr val="2E8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523744" y="1847088"/>
            <a:ext cx="154533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523744" y="2468880"/>
            <a:ext cx="15453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5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parse tree from tokens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23944" y="23088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A5B"/>
                </a:solidFill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61104" y="1737360"/>
            <a:ext cx="1691640" cy="1417320"/>
          </a:xfrm>
          <a:prstGeom prst="rect">
            <a:avLst/>
          </a:prstGeom>
          <a:solidFill>
            <a:srgbClr val="1B2A5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334256" y="1847088"/>
            <a:ext cx="154533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334256" y="2468880"/>
            <a:ext cx="15453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5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meaning &amp; type consistency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34456" y="23088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A5B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71616" y="1737360"/>
            <a:ext cx="1691640" cy="1417320"/>
          </a:xfrm>
          <a:prstGeom prst="rect">
            <a:avLst/>
          </a:prstGeom>
          <a:solidFill>
            <a:srgbClr val="2E8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44768" y="1847088"/>
            <a:ext cx="154533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144768" y="2468880"/>
            <a:ext cx="15453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5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machine-independent IR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744968" y="23088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A5B"/>
                </a:solidFill>
              </a:rPr>
              <a:t>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882128" y="1737360"/>
            <a:ext cx="1691640" cy="1417320"/>
          </a:xfrm>
          <a:prstGeom prst="rect">
            <a:avLst/>
          </a:prstGeom>
          <a:solidFill>
            <a:srgbClr val="1B2A5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955280" y="1847088"/>
            <a:ext cx="154533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955280" y="2468880"/>
            <a:ext cx="15453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5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IR for efficiency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555480" y="23088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A5B"/>
                </a:solidFill>
              </a:rPr>
              <a:t>▶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692640" y="1737360"/>
            <a:ext cx="1691640" cy="1417320"/>
          </a:xfrm>
          <a:prstGeom prst="rect">
            <a:avLst/>
          </a:prstGeom>
          <a:solidFill>
            <a:srgbClr val="2E8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9765792" y="1847088"/>
            <a:ext cx="154533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765792" y="2468880"/>
            <a:ext cx="15453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5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target machine code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0080" y="3520440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914400" y="3776472"/>
            <a:ext cx="256032" cy="256032"/>
          </a:xfrm>
          <a:prstGeom prst="ellipse">
            <a:avLst/>
          </a:prstGeom>
          <a:solidFill>
            <a:srgbClr val="5EC8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1325880" y="368503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Dependency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4400" y="4142232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relies on the correct output of the phase before it.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172200" y="3520440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446520" y="3776472"/>
            <a:ext cx="256032" cy="256032"/>
          </a:xfrm>
          <a:prstGeom prst="ellipse">
            <a:avLst/>
          </a:prstGeom>
          <a:solidFill>
            <a:srgbClr val="5EC8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858000" y="368503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Error Detection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46520" y="4142232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and syntax errors stop compilation before deeper analysis begins.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080" y="507492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141E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914400" y="51937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C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takeaway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14400" y="5468112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5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error-recovery techniques into every phase, and keep the compiler modular so each phase can be debugged independently.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LEXICAL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Tokens, Lexemes &amp; Patterns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02152" cy="54864"/>
          </a:xfrm>
          <a:prstGeom prst="rect">
            <a:avLst/>
          </a:prstGeom>
          <a:solidFill>
            <a:srgbClr val="2E8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1746504"/>
            <a:ext cx="3502152" cy="1545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3044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category of lexical unit — e.g. identifier, keyword, operator, constant.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06824" y="1691640"/>
            <a:ext cx="3502152" cy="54864"/>
          </a:xfrm>
          <a:prstGeom prst="rect">
            <a:avLst/>
          </a:prstGeom>
          <a:solidFill>
            <a:srgbClr val="2E8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306824" y="1746504"/>
            <a:ext cx="3502152" cy="1545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35424" y="196596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Lexeme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35424" y="2423160"/>
            <a:ext cx="3044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character sequence in the source matched to a token — e.g. "total".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73568" y="1691640"/>
            <a:ext cx="3502152" cy="54864"/>
          </a:xfrm>
          <a:prstGeom prst="rect">
            <a:avLst/>
          </a:prstGeom>
          <a:solidFill>
            <a:srgbClr val="2E8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973568" y="1746504"/>
            <a:ext cx="3502152" cy="1545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02168" y="196596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02168" y="2423160"/>
            <a:ext cx="3044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(regular expression) describing which strings form a token.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3611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LEX Specification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977640"/>
            <a:ext cx="5486400" cy="2331720"/>
          </a:xfrm>
          <a:prstGeom prst="rect">
            <a:avLst/>
          </a:prstGeom>
          <a:solidFill>
            <a:srgbClr val="141E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68680" y="411480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&lt;stdio.h&gt;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   [0-9]+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    [a-zA-Z_][a-zA-Z0-9_]*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{DIGIT}  { printf("NUMBER\n");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{ID}     { printf("IDENTIFIER\n");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36118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Lexical Analysis Delivers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402336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regular expressions to identify identifiers, constants and operators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lexical errors such as invalid identifiers and illegal symbols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the token stream so parsing runs faster and more efficiently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LANGUAGE PROCESSORS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Compiler vs Interpreter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377440" cy="658368"/>
          </a:xfrm>
          <a:prstGeom prst="rect">
            <a:avLst/>
          </a:prstGeom>
          <a:solidFill>
            <a:srgbClr val="1B2A5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017520" y="1737360"/>
            <a:ext cx="4251960" cy="658368"/>
          </a:xfrm>
          <a:prstGeom prst="rect">
            <a:avLst/>
          </a:prstGeom>
          <a:solidFill>
            <a:srgbClr val="1B2A5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0" y="1737360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· e.g. C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269480" y="1737360"/>
            <a:ext cx="4251960" cy="658368"/>
          </a:xfrm>
          <a:prstGeom prst="rect">
            <a:avLst/>
          </a:prstGeom>
          <a:solidFill>
            <a:srgbClr val="1B2A5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452360" y="1737360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 · e.g. Python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395728"/>
            <a:ext cx="2377440" cy="658368"/>
          </a:xfrm>
          <a:prstGeom prst="rect">
            <a:avLst/>
          </a:prstGeom>
          <a:solidFill>
            <a:srgbClr val="EAF0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22960" y="2395728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17520" y="2395728"/>
            <a:ext cx="4251960" cy="658368"/>
          </a:xfrm>
          <a:prstGeom prst="rect">
            <a:avLst/>
          </a:prstGeom>
          <a:solidFill>
            <a:srgbClr val="EAF0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00400" y="2395728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entire program before running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69480" y="2395728"/>
            <a:ext cx="4251960" cy="658368"/>
          </a:xfrm>
          <a:prstGeom prst="rect">
            <a:avLst/>
          </a:prstGeom>
          <a:solidFill>
            <a:srgbClr val="EAF0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452360" y="2395728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&amp; executes line by line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054096"/>
            <a:ext cx="23774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22960" y="3054096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017520" y="3054096"/>
            <a:ext cx="42519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200400" y="3054096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execution after compilation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69480" y="3054096"/>
            <a:ext cx="42519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452360" y="3054096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— translation happens at runtime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3712464"/>
            <a:ext cx="2377440" cy="658368"/>
          </a:xfrm>
          <a:prstGeom prst="rect">
            <a:avLst/>
          </a:prstGeom>
          <a:solidFill>
            <a:srgbClr val="EAF0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22960" y="3712464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017520" y="3712464"/>
            <a:ext cx="4251960" cy="658368"/>
          </a:xfrm>
          <a:prstGeom prst="rect">
            <a:avLst/>
          </a:prstGeom>
          <a:solidFill>
            <a:srgbClr val="EAF0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200400" y="3712464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all errors after full compilation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269480" y="3712464"/>
            <a:ext cx="4251960" cy="658368"/>
          </a:xfrm>
          <a:prstGeom prst="rect">
            <a:avLst/>
          </a:prstGeom>
          <a:solidFill>
            <a:srgbClr val="EAF0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452360" y="3712464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at the first error encountered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4370832"/>
            <a:ext cx="23774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22960" y="437083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usage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017520" y="4370832"/>
            <a:ext cx="42519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200400" y="4370832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memory for the object file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269480" y="4370832"/>
            <a:ext cx="42519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7452360" y="4370832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memory to re-interpret each run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" y="5029200"/>
            <a:ext cx="2377440" cy="658368"/>
          </a:xfrm>
          <a:prstGeom prst="rect">
            <a:avLst/>
          </a:prstGeom>
          <a:solidFill>
            <a:srgbClr val="EAF0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822960" y="502920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017520" y="5029200"/>
            <a:ext cx="4251960" cy="658368"/>
          </a:xfrm>
          <a:prstGeom prst="rect">
            <a:avLst/>
          </a:prstGeom>
          <a:solidFill>
            <a:srgbClr val="EAF0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200400" y="5029200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Performance-critical applications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269480" y="5029200"/>
            <a:ext cx="4251960" cy="658368"/>
          </a:xfrm>
          <a:prstGeom prst="rect">
            <a:avLst/>
          </a:prstGeom>
          <a:solidFill>
            <a:srgbClr val="EAF0F6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7452360" y="5029200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development &amp; debugging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· COMPILER GROUPING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Front-End (Analysis) vs Back-End (Synthesis)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2834640"/>
          </a:xfrm>
          <a:prstGeom prst="roundRect">
            <a:avLst>
              <a:gd name="adj" fmla="val 1613"/>
            </a:avLst>
          </a:prstGeom>
          <a:solidFill>
            <a:srgbClr val="1B2A5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89280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· Analysis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377440"/>
            <a:ext cx="4846320" cy="384048"/>
          </a:xfrm>
          <a:prstGeom prst="roundRect">
            <a:avLst>
              <a:gd name="adj" fmla="val 50000"/>
            </a:avLst>
          </a:prstGeom>
          <a:solidFill>
            <a:srgbClr val="2E8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143000" y="237744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Analysis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880360"/>
            <a:ext cx="4846320" cy="384048"/>
          </a:xfrm>
          <a:prstGeom prst="roundRect">
            <a:avLst>
              <a:gd name="adj" fmla="val 50000"/>
            </a:avLst>
          </a:prstGeom>
          <a:solidFill>
            <a:srgbClr val="2E8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143000" y="288036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Analysis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383280"/>
            <a:ext cx="4846320" cy="384048"/>
          </a:xfrm>
          <a:prstGeom prst="roundRect">
            <a:avLst>
              <a:gd name="adj" fmla="val 50000"/>
            </a:avLst>
          </a:prstGeom>
          <a:solidFill>
            <a:srgbClr val="2E8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143000" y="338328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Analysis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886200"/>
            <a:ext cx="4846320" cy="384048"/>
          </a:xfrm>
          <a:prstGeom prst="roundRect">
            <a:avLst>
              <a:gd name="adj" fmla="val 50000"/>
            </a:avLst>
          </a:prstGeom>
          <a:solidFill>
            <a:srgbClr val="2E8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143000" y="388620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Code Generation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023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errors &amp; builds a machine-independent representation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63640" y="1691640"/>
            <a:ext cx="5349240" cy="2834640"/>
          </a:xfrm>
          <a:prstGeom prst="roundRect">
            <a:avLst>
              <a:gd name="adj" fmla="val 1613"/>
            </a:avLst>
          </a:prstGeom>
          <a:solidFill>
            <a:srgbClr val="1B2A5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537960" y="189280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 · Synthesis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37960" y="2377440"/>
            <a:ext cx="4846320" cy="384048"/>
          </a:xfrm>
          <a:prstGeom prst="roundRect">
            <a:avLst>
              <a:gd name="adj" fmla="val 50000"/>
            </a:avLst>
          </a:prstGeom>
          <a:solidFill>
            <a:srgbClr val="1F6E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766560" y="237744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Optimization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37960" y="2880360"/>
            <a:ext cx="4846320" cy="384048"/>
          </a:xfrm>
          <a:prstGeom prst="roundRect">
            <a:avLst>
              <a:gd name="adj" fmla="val 50000"/>
            </a:avLst>
          </a:prstGeom>
          <a:solidFill>
            <a:srgbClr val="1F6E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766560" y="288036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37960" y="3383280"/>
            <a:ext cx="4846320" cy="384048"/>
          </a:xfrm>
          <a:prstGeom prst="roundRect">
            <a:avLst>
              <a:gd name="adj" fmla="val 50000"/>
            </a:avLst>
          </a:prstGeom>
          <a:solidFill>
            <a:srgbClr val="1F6E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766560" y="338328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Target-Specific Tuning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37960" y="4023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performance and produces the final target-machine code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" y="4846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Optimization Techniques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5257800"/>
            <a:ext cx="53492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68680" y="539496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Folding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8680" y="5742432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2 * 3   →   x = 6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72200" y="5257800"/>
            <a:ext cx="53492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400800" y="539496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Code Removal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0" y="5742432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Deletes unreachable / unused statements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· CONSTRUCTION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a Compiler with LEX &amp; YACC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914400" cy="914400"/>
          </a:xfrm>
          <a:prstGeom prst="ellipse">
            <a:avLst/>
          </a:prstGeom>
          <a:solidFill>
            <a:srgbClr val="1B2A5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011680" y="1993392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Generator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011680" y="2395728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regular-expression rules and generates a lexical analyzer that converts source text into a token stream.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3492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46520" y="2011680"/>
            <a:ext cx="914400" cy="914400"/>
          </a:xfrm>
          <a:prstGeom prst="ellipse">
            <a:avLst/>
          </a:prstGeom>
          <a:solidFill>
            <a:srgbClr val="1B2A5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4652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YACC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543800" y="1993392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Generator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543800" y="2395728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 grammar (BNF-style rules) and generates a parser that checks token order and builds a parse tree.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3657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Workflow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1975104" cy="914400"/>
          </a:xfrm>
          <a:prstGeom prst="rect">
            <a:avLst/>
          </a:prstGeom>
          <a:solidFill>
            <a:srgbClr val="DCE4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0080" y="4114800"/>
            <a:ext cx="19751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Rules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96896" y="4434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86A6"/>
                </a:solidFill>
              </a:rPr>
              <a:t>▶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52344" y="4114800"/>
            <a:ext cx="1975104" cy="914400"/>
          </a:xfrm>
          <a:prstGeom prst="rect">
            <a:avLst/>
          </a:prstGeom>
          <a:solidFill>
            <a:srgbClr val="141E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752344" y="4114800"/>
            <a:ext cx="19751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C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09160" y="4434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86A6"/>
                </a:solidFill>
              </a:rPr>
              <a:t>▶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64608" y="4114800"/>
            <a:ext cx="1975104" cy="914400"/>
          </a:xfrm>
          <a:prstGeom prst="rect">
            <a:avLst/>
          </a:prstGeom>
          <a:solidFill>
            <a:srgbClr val="DCE4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864608" y="4114800"/>
            <a:ext cx="19751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21424" y="4434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86A6"/>
                </a:solidFill>
              </a:rPr>
              <a:t>▶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976872" y="4114800"/>
            <a:ext cx="1975104" cy="914400"/>
          </a:xfrm>
          <a:prstGeom prst="rect">
            <a:avLst/>
          </a:prstGeom>
          <a:solidFill>
            <a:srgbClr val="141E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976872" y="4114800"/>
            <a:ext cx="19751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C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YACC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933688" y="4434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86A6"/>
                </a:solidFill>
              </a:rPr>
              <a:t>▶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089136" y="4114800"/>
            <a:ext cx="1975104" cy="914400"/>
          </a:xfrm>
          <a:prstGeom prst="rect">
            <a:avLst/>
          </a:prstGeom>
          <a:solidFill>
            <a:srgbClr val="DCE4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9089136" y="4114800"/>
            <a:ext cx="19751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Tree /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5394960"/>
            <a:ext cx="5349240" cy="777240"/>
          </a:xfrm>
          <a:prstGeom prst="roundRect">
            <a:avLst>
              <a:gd name="adj" fmla="val 7059"/>
            </a:avLst>
          </a:prstGeom>
          <a:solidFill>
            <a:srgbClr val="E3F3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68680" y="539496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 reduced development time, improved accuracy, reusable rule sets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72200" y="5394960"/>
            <a:ext cx="5349240" cy="777240"/>
          </a:xfrm>
          <a:prstGeom prst="roundRect">
            <a:avLst>
              <a:gd name="adj" fmla="val 7059"/>
            </a:avLst>
          </a:prstGeom>
          <a:solidFill>
            <a:srgbClr val="FBE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400800" y="539496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debugging generated code can be complex for large grammars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EC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2E8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73736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5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compiler moves source code through six dependent phases — lexical, syntax, semantic, intermediate, optimization, and code generation.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679192"/>
            <a:ext cx="457200" cy="457200"/>
          </a:xfrm>
          <a:prstGeom prst="ellipse">
            <a:avLst/>
          </a:prstGeom>
          <a:solidFill>
            <a:srgbClr val="2E8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2633472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5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analysis defines tokens, lexemes, and patterns; tools like LEX automate rule-based scanning.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575304"/>
            <a:ext cx="457200" cy="457200"/>
          </a:xfrm>
          <a:prstGeom prst="ellipse">
            <a:avLst/>
          </a:prstGeom>
          <a:solidFill>
            <a:srgbClr val="2E8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35753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3529584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5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Compilers and interpreters trade off speed, memory, and error-handling style depending on the use case.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471416"/>
            <a:ext cx="457200" cy="457200"/>
          </a:xfrm>
          <a:prstGeom prst="ellipse">
            <a:avLst/>
          </a:prstGeom>
          <a:solidFill>
            <a:srgbClr val="2E8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" y="4471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4425696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5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phases into front-end and back-end improves modularity, debugging, and optimization opportunities.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367528"/>
            <a:ext cx="457200" cy="457200"/>
          </a:xfrm>
          <a:prstGeom prst="ellipse">
            <a:avLst/>
          </a:prstGeom>
          <a:solidFill>
            <a:srgbClr val="2E8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0080" y="5367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5321808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5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 and YACC together automate compiler construction, from tokenizing input to producing a parse tree.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EC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LEX   SYN   SEM   IR   OPT   GEN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EC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343400"/>
            <a:ext cx="2743200" cy="0"/>
          </a:xfrm>
          <a:prstGeom prst="line">
            <a:avLst/>
          </a:prstGeom>
          <a:noFill/>
          <a:ln w="25400">
            <a:solidFill>
              <a:srgbClr val="2E8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59893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Somanath Reddy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192525083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732</Words>
  <Application>Microsoft Office PowerPoint</Application>
  <PresentationFormat>Widescreen</PresentationFormat>
  <Paragraphs>173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somanath reddy</cp:lastModifiedBy>
  <cp:revision>2</cp:revision>
  <dcterms:created xsi:type="dcterms:W3CDTF">2026-07-29T05:33:05Z</dcterms:created>
  <dcterms:modified xsi:type="dcterms:W3CDTF">2026-08-03T03:33:44Z</dcterms:modified>
</cp:coreProperties>
</file>